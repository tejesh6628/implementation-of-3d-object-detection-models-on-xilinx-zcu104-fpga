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69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7432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2851542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lleg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360" y="451162"/>
            <a:ext cx="720797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835" y="1599855"/>
            <a:ext cx="1055984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/>
              <a:t>Implementation of 3D Object Detection
Models on Xilinx ZCU104 FPGA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7" y="3028398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E8A838"/>
                </a:solidFill>
              </a:rPr>
              <a:t>Summer Colloquium Presentation  •  May –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3837407"/>
            <a:ext cx="1033272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IN" b="1" dirty="0"/>
              <a:t>Presented</a:t>
            </a:r>
            <a:r>
              <a:rPr b="1" dirty="0"/>
              <a:t> by</a:t>
            </a:r>
            <a:r>
              <a:rPr dirty="0"/>
              <a:t>: </a:t>
            </a:r>
            <a:r>
              <a:rPr lang="en-IN" dirty="0" err="1"/>
              <a:t>Tatikonda</a:t>
            </a:r>
            <a:r>
              <a:rPr lang="en-IN" dirty="0"/>
              <a:t> </a:t>
            </a:r>
            <a:r>
              <a:rPr lang="en-IN" dirty="0" err="1"/>
              <a:t>Tejesh</a:t>
            </a:r>
            <a:endParaRPr dirty="0"/>
          </a:p>
          <a:p>
            <a:pPr algn="ctr">
              <a:spcAft>
                <a:spcPts val="200"/>
              </a:spcAft>
            </a:pPr>
            <a:r>
              <a:rPr b="1" dirty="0"/>
              <a:t>Roll No.: </a:t>
            </a:r>
            <a:r>
              <a:rPr lang="en-IN" dirty="0"/>
              <a:t>2023BEE-035</a:t>
            </a:r>
            <a:endParaRPr dirty="0"/>
          </a:p>
          <a:p>
            <a:pPr algn="ctr">
              <a:spcAft>
                <a:spcPts val="200"/>
              </a:spcAft>
            </a:pPr>
            <a:r>
              <a:rPr sz="1700" b="1" dirty="0"/>
              <a:t>Under the Guidance of</a:t>
            </a:r>
            <a:r>
              <a:rPr sz="1700" dirty="0"/>
              <a:t>: Prof. Manisha Pattanaik</a:t>
            </a:r>
          </a:p>
          <a:p>
            <a:pPr algn="ctr">
              <a:spcAft>
                <a:spcPts val="200"/>
              </a:spcAft>
            </a:pPr>
            <a:r>
              <a:rPr lang="en-IN" dirty="0"/>
              <a:t>Department of Electrical and Electronics Engineering</a:t>
            </a:r>
          </a:p>
          <a:p>
            <a:pPr algn="ctr">
              <a:spcAft>
                <a:spcPts val="200"/>
              </a:spcAft>
            </a:pPr>
            <a:endParaRPr sz="1400" dirty="0"/>
          </a:p>
          <a:p>
            <a:pPr algn="ctr">
              <a:spcAft>
                <a:spcPts val="200"/>
              </a:spcAft>
            </a:pPr>
            <a:r>
              <a:rPr lang="en-IN" dirty="0"/>
              <a:t>ABV – Indian Institute of Information Technology and Management, Gwalior</a:t>
            </a:r>
          </a:p>
          <a:p>
            <a:pPr algn="ctr">
              <a:spcAft>
                <a:spcPts val="200"/>
              </a:spcAft>
            </a:pPr>
            <a:r>
              <a:rPr dirty="0"/>
              <a:t>Academic Year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B3A5C"/>
                </a:solidFill>
              </a:rPr>
              <a:t>Problem Statement &amp;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28916"/>
            <a:ext cx="10789920" cy="4098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Autonomous driving demands real-time 3D perception from LiDAR under strict edge constraints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b="1" dirty="0">
              <a:solidFill>
                <a:srgbClr val="2C5F8A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LiDAR-based 3D object detection models (SECOND, Complex-YOLOv4) achieve high accuracy on GPUs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GPU inference consumes 150–300 W — unsuitable for battery-powered edge platforms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Non-deterministic GPU scheduling introduces latency jitter — unsafe for safety-critical braking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LiDAR sensors operate at 10–20 Hz → need ≤100 </a:t>
            </a:r>
            <a:r>
              <a:rPr dirty="0" err="1">
                <a:solidFill>
                  <a:srgbClr val="333333"/>
                </a:solidFill>
              </a:rPr>
              <a:t>ms</a:t>
            </a:r>
            <a:r>
              <a:rPr dirty="0">
                <a:solidFill>
                  <a:srgbClr val="333333"/>
                </a:solidFill>
              </a:rPr>
              <a:t> inference per frame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The Gap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No publicly available end-to-end deployment of SECOND or Complex-YOLOv4 on Xilinx FPGAs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</a:t>
            </a:r>
            <a:r>
              <a:rPr lang="en-IN" dirty="0">
                <a:solidFill>
                  <a:srgbClr val="333333"/>
                </a:solidFill>
              </a:rPr>
              <a:t>Xilinx-ZCU104-</a:t>
            </a:r>
            <a:r>
              <a:rPr dirty="0">
                <a:solidFill>
                  <a:srgbClr val="333333"/>
                </a:solidFill>
              </a:rPr>
              <a:t>DPU instruction set does not natively support 3D sparse convolutions or Mish activation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Need a heterogeneous CPU–DPU partitioning strategy validated on real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2/1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98129"/>
            <a:ext cx="10789920" cy="3642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</a:rPr>
              <a:t>Architecture &amp; Technique Exploration: </a:t>
            </a:r>
            <a:r>
              <a:rPr lang="en-US" dirty="0">
                <a:solidFill>
                  <a:srgbClr val="333333"/>
                </a:solidFill>
              </a:rPr>
              <a:t>Understand the ZCU104 board architecture, and the specific processes required to map neural networks to FPGA hardware.</a:t>
            </a:r>
            <a:endParaRPr lang="en-IN" dirty="0">
              <a:solidFill>
                <a:srgbClr val="333333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333333"/>
                </a:solidFill>
              </a:rPr>
              <a:t>Model Analysis &amp; Validation: </a:t>
            </a:r>
            <a:r>
              <a:rPr lang="en-IN" dirty="0">
                <a:solidFill>
                  <a:srgbClr val="333333"/>
                </a:solidFill>
              </a:rPr>
              <a:t>Systematically </a:t>
            </a:r>
            <a:r>
              <a:rPr lang="en-IN" dirty="0" err="1">
                <a:solidFill>
                  <a:srgbClr val="333333"/>
                </a:solidFill>
              </a:rPr>
              <a:t>analyze</a:t>
            </a:r>
            <a:r>
              <a:rPr lang="en-IN" dirty="0">
                <a:solidFill>
                  <a:srgbClr val="333333"/>
                </a:solidFill>
              </a:rPr>
              <a:t> model architectures (starting with Complex YOLOv4 and then SECOND model) for hardware mapping, followed by rigorous debugging, testing, and validation of hardware outputs to ensure deployment accuracy.</a:t>
            </a:r>
            <a:endParaRPr dirty="0">
              <a:solidFill>
                <a:srgbClr val="333333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</a:rPr>
              <a:t>End-to-End Deployment: </a:t>
            </a:r>
            <a:r>
              <a:rPr lang="en-US" dirty="0">
                <a:solidFill>
                  <a:srgbClr val="333333"/>
                </a:solidFill>
              </a:rPr>
              <a:t>Implement the trained Complex YOLOv4 and SECOND models on the Zynq FPGA board(ZCU-104) using Xilinx pre-built DPU and comparing the performance.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</a:rPr>
              <a:t>Performance Benchmarking: </a:t>
            </a:r>
            <a:r>
              <a:rPr lang="en-US" dirty="0">
                <a:solidFill>
                  <a:srgbClr val="333333"/>
                </a:solidFill>
              </a:rPr>
              <a:t>Identify hardware bottlenecks to justify future custom accelerator designs.</a:t>
            </a:r>
            <a:endParaRPr dirty="0">
              <a:solidFill>
                <a:srgbClr val="333333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3/1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B3A5C"/>
                </a:solidFill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79755"/>
            <a:ext cx="10789920" cy="3731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3D Object Detection from LiDAR Point Clouds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</a:t>
            </a:r>
            <a:r>
              <a:rPr dirty="0" err="1">
                <a:solidFill>
                  <a:srgbClr val="333333"/>
                </a:solidFill>
              </a:rPr>
              <a:t>VoxelNet</a:t>
            </a:r>
            <a:r>
              <a:rPr dirty="0">
                <a:solidFill>
                  <a:srgbClr val="333333"/>
                </a:solidFill>
              </a:rPr>
              <a:t>  — First end-to-end deep learning for 3D detection; used dense 3D convolutions → slow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SECOND  — Introduced spatially sparse convolutions → dramatic speedup over </a:t>
            </a:r>
            <a:r>
              <a:rPr dirty="0" err="1">
                <a:solidFill>
                  <a:srgbClr val="333333"/>
                </a:solidFill>
              </a:rPr>
              <a:t>VoxelNet</a:t>
            </a:r>
            <a:endParaRPr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Complex-YOLO</a:t>
            </a:r>
            <a:r>
              <a:rPr lang="en-IN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— Projects point cloud to BEV image + YOLO; Euler region proposals for yaw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</a:t>
            </a:r>
            <a:r>
              <a:rPr dirty="0" err="1">
                <a:solidFill>
                  <a:srgbClr val="333333"/>
                </a:solidFill>
              </a:rPr>
              <a:t>PointPillars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lang="en-IN" dirty="0">
                <a:solidFill>
                  <a:srgbClr val="333333"/>
                </a:solidFill>
              </a:rPr>
              <a:t> </a:t>
            </a:r>
            <a:r>
              <a:rPr dirty="0">
                <a:solidFill>
                  <a:srgbClr val="333333"/>
                </a:solidFill>
              </a:rPr>
              <a:t>— Vertical pillars instead of voxels; fast 2D CNN backbone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FPGA-based Neural Network Acceleration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Xilinx DPU (DPUCZDX8G) — Fixed ISA for Conv2D, BN, </a:t>
            </a:r>
            <a:r>
              <a:rPr dirty="0" err="1">
                <a:solidFill>
                  <a:srgbClr val="333333"/>
                </a:solidFill>
              </a:rPr>
              <a:t>ReLU</a:t>
            </a:r>
            <a:r>
              <a:rPr dirty="0">
                <a:solidFill>
                  <a:srgbClr val="333333"/>
                </a:solidFill>
              </a:rPr>
              <a:t>, pooling in INT8; no sparse 3D conv support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INT8 Post-Training Quantization (PTQ) — ~4× model size reduction; 1–3% accuracy loss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Quantization-Aware Training (QAT) — Simulates quantization during training; &lt;1% accuracy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4/1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34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B3A5C"/>
                </a:solidFill>
              </a:rPr>
              <a:t>Hardware Platform: Xilinx ZCU104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90880" y="850426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5/1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D91C59-6554-6084-DAD1-194955F2A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647254"/>
              </p:ext>
            </p:extLst>
          </p:nvPr>
        </p:nvGraphicFramePr>
        <p:xfrm>
          <a:off x="690880" y="1069899"/>
          <a:ext cx="10922000" cy="520286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18913">
                  <a:extLst>
                    <a:ext uri="{9D8B030D-6E8A-4147-A177-3AD203B41FA5}">
                      <a16:colId xmlns:a16="http://schemas.microsoft.com/office/drawing/2014/main" val="2423864001"/>
                    </a:ext>
                  </a:extLst>
                </a:gridCol>
                <a:gridCol w="6303087">
                  <a:extLst>
                    <a:ext uri="{9D8B030D-6E8A-4147-A177-3AD203B41FA5}">
                      <a16:colId xmlns:a16="http://schemas.microsoft.com/office/drawing/2014/main" val="3389727374"/>
                    </a:ext>
                  </a:extLst>
                </a:gridCol>
              </a:tblGrid>
              <a:tr h="4288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solidFill>
                            <a:schemeClr val="accent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27938" marR="27938" marT="13969" marB="1396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solidFill>
                            <a:schemeClr val="accent1"/>
                          </a:solidFill>
                          <a:effectLst/>
                        </a:rPr>
                        <a:t>Specification</a:t>
                      </a:r>
                    </a:p>
                  </a:txBody>
                  <a:tcPr marL="27938" marR="27938" marT="13969" marB="1396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775476"/>
                  </a:ext>
                </a:extLst>
              </a:tr>
              <a:tr h="35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SoC Device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Zynq </a:t>
                      </a:r>
                      <a:r>
                        <a:rPr lang="en-IN" sz="1500" dirty="0" err="1">
                          <a:effectLst/>
                        </a:rPr>
                        <a:t>UltraScale</a:t>
                      </a:r>
                      <a:r>
                        <a:rPr lang="en-IN" sz="1500" dirty="0">
                          <a:effectLst/>
                        </a:rPr>
                        <a:t>+ </a:t>
                      </a:r>
                      <a:r>
                        <a:rPr lang="en-IN" sz="1500" dirty="0" err="1">
                          <a:effectLst/>
                        </a:rPr>
                        <a:t>MPSoC</a:t>
                      </a:r>
                      <a:r>
                        <a:rPr lang="en-IN" sz="1500" dirty="0">
                          <a:effectLst/>
                        </a:rPr>
                        <a:t> XCZU7EV-2FFVC1156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696778"/>
                  </a:ext>
                </a:extLst>
              </a:tr>
              <a:tr h="35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Application Processors (PS)</a:t>
                      </a:r>
                    </a:p>
                  </a:txBody>
                  <a:tcPr marL="27938" marR="27938" marT="13969" marB="1396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Quad-core ARM Cortex-A53 (64-bit) @ 1.5 GHz</a:t>
                      </a:r>
                    </a:p>
                  </a:txBody>
                  <a:tcPr marL="27938" marR="27938" marT="13969" marB="13969" anchor="ctr"/>
                </a:tc>
                <a:extLst>
                  <a:ext uri="{0D108BD9-81ED-4DB2-BD59-A6C34878D82A}">
                    <a16:rowId xmlns:a16="http://schemas.microsoft.com/office/drawing/2014/main" val="1894938122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Real-Time Processors (PS)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Dual-core ARM Cortex-R5F @ 600 MHz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44004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Graphics</a:t>
                      </a:r>
                    </a:p>
                  </a:txBody>
                  <a:tcPr marL="27938" marR="27938" marT="13969" marB="1396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Mali-400 MP2 GPU</a:t>
                      </a:r>
                    </a:p>
                  </a:txBody>
                  <a:tcPr marL="27938" marR="27938" marT="13969" marB="13969" anchor="ctr"/>
                </a:tc>
                <a:extLst>
                  <a:ext uri="{0D108BD9-81ED-4DB2-BD59-A6C34878D82A}">
                    <a16:rowId xmlns:a16="http://schemas.microsoft.com/office/drawing/2014/main" val="3934355352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Programmable Logic (PL Fabric)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16 nm </a:t>
                      </a:r>
                      <a:r>
                        <a:rPr lang="en-IN" sz="1500" dirty="0" err="1">
                          <a:effectLst/>
                        </a:rPr>
                        <a:t>UltraScale</a:t>
                      </a:r>
                      <a:r>
                        <a:rPr lang="en-IN" sz="1500" dirty="0">
                          <a:effectLst/>
                        </a:rPr>
                        <a:t>+ FPGA Fabric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076346"/>
                  </a:ext>
                </a:extLst>
              </a:tr>
              <a:tr h="13690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PL Numerical Capacity</a:t>
                      </a:r>
                    </a:p>
                  </a:txBody>
                  <a:tcPr marL="27938" marR="27938" marT="13969" marB="1396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effectLst/>
                        </a:rPr>
                        <a:t>System Logic Cells:</a:t>
                      </a:r>
                      <a:r>
                        <a:rPr lang="en-IN" sz="1500" dirty="0">
                          <a:effectLst/>
                        </a:rPr>
                        <a:t> ~504,000</a:t>
                      </a:r>
                      <a:br>
                        <a:rPr lang="en-IN" sz="1500" dirty="0">
                          <a:effectLst/>
                        </a:rPr>
                      </a:br>
                      <a:r>
                        <a:rPr lang="en-IN" sz="1500" b="1" dirty="0">
                          <a:effectLst/>
                        </a:rPr>
                        <a:t>LUTs (Look-Up Tables):</a:t>
                      </a:r>
                      <a:r>
                        <a:rPr lang="en-IN" sz="1500" dirty="0">
                          <a:effectLst/>
                        </a:rPr>
                        <a:t> 230,400</a:t>
                      </a:r>
                      <a:br>
                        <a:rPr lang="en-IN" sz="1500" dirty="0">
                          <a:effectLst/>
                        </a:rPr>
                      </a:br>
                      <a:r>
                        <a:rPr lang="en-IN" sz="1500" b="1" dirty="0">
                          <a:effectLst/>
                        </a:rPr>
                        <a:t>FFs (Flip-Flops):</a:t>
                      </a:r>
                      <a:r>
                        <a:rPr lang="en-IN" sz="1500" dirty="0">
                          <a:effectLst/>
                        </a:rPr>
                        <a:t> 460,800</a:t>
                      </a:r>
                      <a:br>
                        <a:rPr lang="en-IN" sz="1500" dirty="0">
                          <a:effectLst/>
                        </a:rPr>
                      </a:br>
                      <a:r>
                        <a:rPr lang="en-IN" sz="1500" b="1" dirty="0">
                          <a:effectLst/>
                        </a:rPr>
                        <a:t>DSP Slices:</a:t>
                      </a:r>
                      <a:r>
                        <a:rPr lang="en-IN" sz="1500" dirty="0">
                          <a:effectLst/>
                        </a:rPr>
                        <a:t> 1,728 (Crucial for Neural Net math)</a:t>
                      </a:r>
                      <a:br>
                        <a:rPr lang="en-IN" sz="1500" dirty="0">
                          <a:effectLst/>
                        </a:rPr>
                      </a:br>
                      <a:r>
                        <a:rPr lang="en-IN" sz="1500" b="1" dirty="0">
                          <a:effectLst/>
                        </a:rPr>
                        <a:t>Block RAM (BRAM):</a:t>
                      </a:r>
                      <a:r>
                        <a:rPr lang="en-IN" sz="1500" dirty="0">
                          <a:effectLst/>
                        </a:rPr>
                        <a:t> 11.4 Mb (312 blocks)</a:t>
                      </a:r>
                      <a:br>
                        <a:rPr lang="en-IN" sz="1500" dirty="0">
                          <a:effectLst/>
                        </a:rPr>
                      </a:br>
                      <a:r>
                        <a:rPr lang="en-IN" sz="1500" b="1" dirty="0" err="1">
                          <a:effectLst/>
                        </a:rPr>
                        <a:t>UltraRAM</a:t>
                      </a:r>
                      <a:r>
                        <a:rPr lang="en-IN" sz="1500" b="1" dirty="0">
                          <a:effectLst/>
                        </a:rPr>
                        <a:t>:</a:t>
                      </a:r>
                      <a:r>
                        <a:rPr lang="en-IN" sz="1500" dirty="0">
                          <a:effectLst/>
                        </a:rPr>
                        <a:t> 27 Mb (96 blocks)</a:t>
                      </a:r>
                    </a:p>
                  </a:txBody>
                  <a:tcPr marL="27938" marR="27938" marT="13969" marB="13969" anchor="ctr"/>
                </a:tc>
                <a:extLst>
                  <a:ext uri="{0D108BD9-81ED-4DB2-BD59-A6C34878D82A}">
                    <a16:rowId xmlns:a16="http://schemas.microsoft.com/office/drawing/2014/main" val="2011747738"/>
                  </a:ext>
                </a:extLst>
              </a:tr>
              <a:tr h="35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Video Codec Unit (VCU)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Integrated H.264/H.265 Encode &amp; Decode (up to 4K @ 60fps)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95827"/>
                  </a:ext>
                </a:extLst>
              </a:tr>
              <a:tr h="35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System Memory</a:t>
                      </a:r>
                    </a:p>
                  </a:txBody>
                  <a:tcPr marL="27938" marR="27938" marT="13969" marB="1396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effectLst/>
                        </a:rPr>
                        <a:t>2 GB DDR4</a:t>
                      </a:r>
                      <a:r>
                        <a:rPr lang="en-IN" sz="1500" dirty="0">
                          <a:effectLst/>
                        </a:rPr>
                        <a:t> (64-bit component memory for PS)</a:t>
                      </a:r>
                    </a:p>
                  </a:txBody>
                  <a:tcPr marL="27938" marR="27938" marT="13969" marB="13969" anchor="ctr"/>
                </a:tc>
                <a:extLst>
                  <a:ext uri="{0D108BD9-81ED-4DB2-BD59-A6C34878D82A}">
                    <a16:rowId xmlns:a16="http://schemas.microsoft.com/office/drawing/2014/main" val="724665479"/>
                  </a:ext>
                </a:extLst>
              </a:tr>
              <a:tr h="35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Connectivity</a:t>
                      </a:r>
                    </a:p>
                  </a:txBody>
                  <a:tcPr marL="27938" marR="27938" marT="13969" marB="1396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USB 3.0, Gigabit Ethernet, PCIe Gen2 x4 root port, SATA 3.1</a:t>
                      </a:r>
                    </a:p>
                  </a:txBody>
                  <a:tcPr marL="27938" marR="27938" marT="13969" marB="13969" anchor="ctr"/>
                </a:tc>
                <a:extLst>
                  <a:ext uri="{0D108BD9-81ED-4DB2-BD59-A6C34878D82A}">
                    <a16:rowId xmlns:a16="http://schemas.microsoft.com/office/drawing/2014/main" val="2828986938"/>
                  </a:ext>
                </a:extLst>
              </a:tr>
              <a:tr h="35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Development Tools</a:t>
                      </a: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 err="1">
                          <a:effectLst/>
                        </a:rPr>
                        <a:t>Vivado</a:t>
                      </a:r>
                      <a:r>
                        <a:rPr lang="en-IN" sz="1500" dirty="0">
                          <a:effectLst/>
                        </a:rPr>
                        <a:t> Design Suite, Vitis Unified Software Platform, </a:t>
                      </a:r>
                      <a:r>
                        <a:rPr lang="en-IN" sz="1500" dirty="0" err="1">
                          <a:effectLst/>
                        </a:rPr>
                        <a:t>PetaLinux</a:t>
                      </a:r>
                      <a:r>
                        <a:rPr lang="en-IN" sz="1500" dirty="0">
                          <a:effectLst/>
                        </a:rPr>
                        <a:t>, </a:t>
                      </a:r>
                      <a:r>
                        <a:rPr lang="en-IN" sz="1500" b="1" dirty="0">
                          <a:effectLst/>
                        </a:rPr>
                        <a:t>Vitis AI</a:t>
                      </a:r>
                      <a:endParaRPr lang="en-IN" sz="1500" dirty="0">
                        <a:effectLst/>
                      </a:endParaRPr>
                    </a:p>
                  </a:txBody>
                  <a:tcPr marL="27938" marR="27938" marT="13969" marB="1396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072315"/>
                  </a:ext>
                </a:extLst>
              </a:tr>
              <a:tr h="5009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>
                          <a:solidFill>
                            <a:schemeClr val="accent1"/>
                          </a:solidFill>
                          <a:effectLst/>
                        </a:rPr>
                        <a:t>Typical Edge AI Uses</a:t>
                      </a:r>
                    </a:p>
                  </a:txBody>
                  <a:tcPr marL="27938" marR="27938" marT="13969" marB="1396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effectLst/>
                        </a:rPr>
                        <a:t>Deterministic FPGA Acceleration, Embedded Vision, ADAS (Advanced Driver Assistance Systems), Video Processing</a:t>
                      </a:r>
                    </a:p>
                  </a:txBody>
                  <a:tcPr marL="27938" marR="27938" marT="13969" marB="13969" anchor="ctr"/>
                </a:tc>
                <a:extLst>
                  <a:ext uri="{0D108BD9-81ED-4DB2-BD59-A6C34878D82A}">
                    <a16:rowId xmlns:a16="http://schemas.microsoft.com/office/drawing/2014/main" val="23495652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Methodology — Deployment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406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End-to-End FPGA Deployment Pipeline (Both Models)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b="1" dirty="0">
              <a:solidFill>
                <a:srgbClr val="2C5F8A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dirty="0">
              <a:solidFill>
                <a:srgbClr val="333333"/>
              </a:solidFill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AutoNum type="arabicPeriod"/>
            </a:pPr>
            <a:r>
              <a:rPr lang="en-IN" dirty="0"/>
              <a:t>Pre-trained Model Acquisition: Obtaining float32 </a:t>
            </a:r>
            <a:r>
              <a:rPr lang="en-IN" dirty="0" err="1"/>
              <a:t>PyTorch</a:t>
            </a:r>
            <a:r>
              <a:rPr lang="en-IN" dirty="0"/>
              <a:t> checkpoints pretrained on the KITTI dataset. 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AutoNum type="arabicPeriod"/>
            </a:pPr>
            <a:r>
              <a:rPr lang="en-IN" dirty="0"/>
              <a:t>INT8 Quantization using the Vitis AI </a:t>
            </a:r>
            <a:r>
              <a:rPr lang="en-IN" dirty="0" err="1"/>
              <a:t>pytorch</a:t>
            </a:r>
            <a:r>
              <a:rPr lang="en-IN" dirty="0"/>
              <a:t> </a:t>
            </a:r>
            <a:r>
              <a:rPr lang="en-IN" dirty="0" err="1"/>
              <a:t>nndct</a:t>
            </a:r>
            <a:r>
              <a:rPr lang="en-IN" dirty="0"/>
              <a:t> quantizer inside a Docker container. 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AutoNum type="arabicPeriod"/>
            </a:pPr>
            <a:r>
              <a:rPr lang="en-IN" dirty="0"/>
              <a:t>Compilation to a DPU-executable .</a:t>
            </a:r>
            <a:r>
              <a:rPr lang="en-IN" dirty="0" err="1"/>
              <a:t>xmodel</a:t>
            </a:r>
            <a:r>
              <a:rPr lang="en-IN" dirty="0"/>
              <a:t> using </a:t>
            </a:r>
            <a:r>
              <a:rPr lang="en-IN" dirty="0" err="1"/>
              <a:t>vai</a:t>
            </a:r>
            <a:r>
              <a:rPr lang="en-IN" dirty="0"/>
              <a:t> c </a:t>
            </a:r>
            <a:r>
              <a:rPr lang="en-IN" dirty="0" err="1"/>
              <a:t>xir</a:t>
            </a:r>
            <a:r>
              <a:rPr lang="en-IN" dirty="0"/>
              <a:t>. 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AutoNum type="arabicPeriod"/>
            </a:pPr>
            <a:r>
              <a:rPr lang="en-IN" dirty="0"/>
              <a:t>Board Deployment and inference using the VART (Vitis AI Runtime) Python API on </a:t>
            </a:r>
            <a:r>
              <a:rPr lang="en-IN" dirty="0" err="1"/>
              <a:t>PetaLinux</a:t>
            </a:r>
            <a:r>
              <a:rPr lang="en-IN" dirty="0"/>
              <a:t>.</a:t>
            </a:r>
            <a:endParaRPr dirty="0">
              <a:solidFill>
                <a:srgbClr val="333333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6/1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242D64-16CB-3A66-AF31-1729028B9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39" y="1950269"/>
            <a:ext cx="9512541" cy="1648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Methodology — Complex-YOLOv4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446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Architecture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Input: 3-channel BEV image (608×608) — intensity, height, density from LiDAR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Backbone: Darknet CNN (161 layers) → 3 YOLO detection heads (76×76, 38×38, 19×19)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Output per anchor: 4 </a:t>
            </a:r>
            <a:r>
              <a:rPr dirty="0" err="1">
                <a:solidFill>
                  <a:srgbClr val="333333"/>
                </a:solidFill>
              </a:rPr>
              <a:t>bbox</a:t>
            </a:r>
            <a:r>
              <a:rPr dirty="0">
                <a:solidFill>
                  <a:srgbClr val="333333"/>
                </a:solidFill>
              </a:rPr>
              <a:t> + 2 yaw (complex numbers) + 1 </a:t>
            </a:r>
            <a:r>
              <a:rPr dirty="0" err="1">
                <a:solidFill>
                  <a:srgbClr val="333333"/>
                </a:solidFill>
              </a:rPr>
              <a:t>objectness</a:t>
            </a:r>
            <a:r>
              <a:rPr dirty="0">
                <a:solidFill>
                  <a:srgbClr val="333333"/>
                </a:solidFill>
              </a:rPr>
              <a:t> + 8 classes = 15 values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DPU–CPU Partitioning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DPU: Entire Darknet backbone (Conv2D, BN, </a:t>
            </a:r>
            <a:r>
              <a:rPr dirty="0" err="1">
                <a:solidFill>
                  <a:srgbClr val="333333"/>
                </a:solidFill>
              </a:rPr>
              <a:t>LeakyReLU</a:t>
            </a:r>
            <a:r>
              <a:rPr dirty="0">
                <a:solidFill>
                  <a:srgbClr val="333333"/>
                </a:solidFill>
              </a:rPr>
              <a:t>, </a:t>
            </a:r>
            <a:r>
              <a:rPr dirty="0" err="1">
                <a:solidFill>
                  <a:srgbClr val="333333"/>
                </a:solidFill>
              </a:rPr>
              <a:t>MaxPool</a:t>
            </a:r>
            <a:r>
              <a:rPr dirty="0">
                <a:solidFill>
                  <a:srgbClr val="333333"/>
                </a:solidFill>
              </a:rPr>
              <a:t>, Route, Shortcut, </a:t>
            </a:r>
            <a:r>
              <a:rPr dirty="0" err="1">
                <a:solidFill>
                  <a:srgbClr val="333333"/>
                </a:solidFill>
              </a:rPr>
              <a:t>Upsample</a:t>
            </a:r>
            <a:r>
              <a:rPr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CPU: Final 3 × 1×1 convolutions, YOLO decode (sigmoid, grid offset, anchor scaling), NMS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 dirty="0">
                <a:solidFill>
                  <a:srgbClr val="2C5F8A"/>
                </a:solidFill>
              </a:rPr>
              <a:t>Key Adaptation: Mish → </a:t>
            </a:r>
            <a:r>
              <a:rPr sz="2000" b="1" dirty="0" err="1">
                <a:solidFill>
                  <a:srgbClr val="2C5F8A"/>
                </a:solidFill>
              </a:rPr>
              <a:t>LeakyReLU</a:t>
            </a:r>
            <a:endParaRPr sz="2000" b="1" dirty="0">
              <a:solidFill>
                <a:srgbClr val="2C5F8A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Mish not supported by DPU → replaced with </a:t>
            </a:r>
            <a:r>
              <a:rPr dirty="0" err="1">
                <a:solidFill>
                  <a:srgbClr val="333333"/>
                </a:solidFill>
              </a:rPr>
              <a:t>LeakyReLU</a:t>
            </a:r>
            <a:r>
              <a:rPr dirty="0">
                <a:solidFill>
                  <a:srgbClr val="333333"/>
                </a:solidFill>
              </a:rPr>
              <a:t> (α = 13/128 for exact INT8 fit)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Retrained 30 epochs to recover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7/1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B3A5C"/>
                </a:solidFill>
              </a:rPr>
              <a:t>Methodology —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14132"/>
            <a:ext cx="1078992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dirty="0">
                <a:solidFill>
                  <a:srgbClr val="2C5F8A"/>
                </a:solidFill>
              </a:rPr>
              <a:t>Architecture (Voxel-based Full 3D Detector)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dirty="0">
                <a:solidFill>
                  <a:srgbClr val="333333"/>
                </a:solidFill>
              </a:rPr>
              <a:t>• Voxelization + </a:t>
            </a:r>
            <a:r>
              <a:rPr lang="en-IN" dirty="0" err="1">
                <a:solidFill>
                  <a:srgbClr val="333333"/>
                </a:solidFill>
              </a:rPr>
              <a:t>MeanVFE</a:t>
            </a:r>
            <a:r>
              <a:rPr lang="en-IN" dirty="0">
                <a:solidFill>
                  <a:srgbClr val="333333"/>
                </a:solidFill>
              </a:rPr>
              <a:t>: raw point cloud → 3D voxel grid [1408×1600×40]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dirty="0">
                <a:solidFill>
                  <a:srgbClr val="333333"/>
                </a:solidFill>
              </a:rPr>
              <a:t>• 3D Sparse Backbone: sparse convolutions on occupied voxels (&lt;5% of grid) → 8× </a:t>
            </a:r>
            <a:r>
              <a:rPr lang="en-IN" dirty="0" err="1">
                <a:solidFill>
                  <a:srgbClr val="333333"/>
                </a:solidFill>
              </a:rPr>
              <a:t>downsample</a:t>
            </a:r>
            <a:endParaRPr lang="en-IN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dirty="0">
                <a:solidFill>
                  <a:srgbClr val="333333"/>
                </a:solidFill>
              </a:rPr>
              <a:t>• Height Compression: 3D → dense 2D BEV feature map [256×200×176]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dirty="0">
                <a:solidFill>
                  <a:srgbClr val="333333"/>
                </a:solidFill>
              </a:rPr>
              <a:t>• 2D Dense Backbone: 12 Conv2D layers + 2 ConvTranspose2D → [512×200×176]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dirty="0">
                <a:solidFill>
                  <a:srgbClr val="333333"/>
                </a:solidFill>
              </a:rPr>
              <a:t>• Detection Head: 3 parallel 1×1 </a:t>
            </a:r>
            <a:r>
              <a:rPr lang="en-IN" dirty="0" err="1">
                <a:solidFill>
                  <a:srgbClr val="333333"/>
                </a:solidFill>
              </a:rPr>
              <a:t>convs</a:t>
            </a:r>
            <a:r>
              <a:rPr lang="en-IN" dirty="0">
                <a:solidFill>
                  <a:srgbClr val="333333"/>
                </a:solidFill>
              </a:rPr>
              <a:t> (classification, box regression, direction)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dirty="0">
                <a:solidFill>
                  <a:srgbClr val="2C5F8A"/>
                </a:solidFill>
              </a:rPr>
              <a:t>DPU–CPU Partitioning (Heterogeneous)</a:t>
            </a:r>
            <a:endParaRPr lang="en-US" b="1" dirty="0">
              <a:solidFill>
                <a:srgbClr val="2C5F8A"/>
              </a:solidFill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dirty="0">
                <a:solidFill>
                  <a:srgbClr val="333333"/>
                </a:solidFill>
              </a:rPr>
              <a:t>•</a:t>
            </a:r>
            <a:r>
              <a:rPr lang="en-US" dirty="0">
                <a:solidFill>
                  <a:srgbClr val="333333"/>
                </a:solidFill>
              </a:rPr>
              <a:t> Host PC (Pre-computed): Voxelization, 3D Sparse Backbone, and Height Compression (bypassed on-board due to             ARM CPU limitations).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dirty="0">
                <a:solidFill>
                  <a:srgbClr val="333333"/>
                </a:solidFill>
              </a:rPr>
              <a:t>• ZCU104 DPU: Dense 2D BEV backbone + detection head (&gt;80% of total MACs).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dirty="0">
                <a:solidFill>
                  <a:srgbClr val="333333"/>
                </a:solidFill>
              </a:rPr>
              <a:t>• ZCU104 ARM CPU: File I/O and Post-processing (Anchor Decode, NMS).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b="1" dirty="0">
                <a:solidFill>
                  <a:srgbClr val="2C5F8A"/>
                </a:solidFill>
              </a:rPr>
              <a:t>Key Adaptation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• ONNX export of dense backbone only; compiled to </a:t>
            </a:r>
            <a:r>
              <a:rPr dirty="0" err="1">
                <a:solidFill>
                  <a:srgbClr val="333333"/>
                </a:solidFill>
              </a:rPr>
              <a:t>SECOND_model.xmodel</a:t>
            </a:r>
            <a:r>
              <a:rPr dirty="0">
                <a:solidFill>
                  <a:srgbClr val="333333"/>
                </a:solidFill>
              </a:rPr>
              <a:t> (5.82 MB)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8/1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Results — Complex-YOLOv4 on ZCU104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90968" y="3981490"/>
            <a:ext cx="50292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dirty="0">
                <a:solidFill>
                  <a:srgbClr val="333333"/>
                </a:solidFill>
              </a:rPr>
              <a:t>DPU Inference Latency:  140.1 </a:t>
            </a:r>
            <a:r>
              <a:rPr dirty="0" err="1">
                <a:solidFill>
                  <a:srgbClr val="333333"/>
                </a:solidFill>
              </a:rPr>
              <a:t>ms</a:t>
            </a:r>
            <a:r>
              <a:rPr dirty="0">
                <a:solidFill>
                  <a:srgbClr val="333333"/>
                </a:solidFill>
              </a:rPr>
              <a:t>/frame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dirty="0">
                <a:solidFill>
                  <a:srgbClr val="333333"/>
                </a:solidFill>
              </a:rPr>
              <a:t>Throughput:  7.1 FPS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dirty="0">
                <a:solidFill>
                  <a:srgbClr val="333333"/>
                </a:solidFill>
              </a:rPr>
              <a:t>Power Consumption:  ~15 W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dirty="0" err="1">
                <a:solidFill>
                  <a:srgbClr val="333333"/>
                </a:solidFill>
              </a:rPr>
              <a:t>xmodel</a:t>
            </a:r>
            <a:r>
              <a:rPr dirty="0">
                <a:solidFill>
                  <a:srgbClr val="333333"/>
                </a:solidFill>
              </a:rPr>
              <a:t> Size:  67.3 MB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dirty="0">
                <a:solidFill>
                  <a:srgbClr val="333333"/>
                </a:solidFill>
              </a:rPr>
              <a:t>RAM Usage:  613 MB / 1985 MB (30.9%)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dirty="0">
                <a:solidFill>
                  <a:srgbClr val="333333"/>
                </a:solidFill>
              </a:rPr>
              <a:t>Input:  [1, 608, 608, 3] INT8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2352" y="5821469"/>
            <a:ext cx="2466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C5F8A"/>
                </a:solidFill>
              </a:rPr>
              <a:t>Board’s Terminal(</a:t>
            </a:r>
            <a:r>
              <a:rPr lang="en-US" dirty="0" err="1">
                <a:solidFill>
                  <a:srgbClr val="2C5F8A"/>
                </a:solidFill>
              </a:rPr>
              <a:t>puTTY</a:t>
            </a:r>
            <a:r>
              <a:rPr lang="en-US" dirty="0">
                <a:solidFill>
                  <a:srgbClr val="2C5F8A"/>
                </a:solidFill>
              </a:rPr>
              <a:t>)</a:t>
            </a:r>
            <a:endParaRPr lang="en-US" dirty="0">
              <a:solidFill>
                <a:srgbClr val="333333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90461" y="6510528"/>
            <a:ext cx="4796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9/1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70DE97-8697-8065-74B7-7C99D923C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297" r="-2408" b="50037"/>
          <a:stretch>
            <a:fillRect/>
          </a:stretch>
        </p:blipFill>
        <p:spPr>
          <a:xfrm>
            <a:off x="6126480" y="901563"/>
            <a:ext cx="5558177" cy="27429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4EC75A-A9AD-1D05-70D6-FBDE42E68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65" y="1409445"/>
            <a:ext cx="4836488" cy="4339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Results — SECOND on ZCU104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88096" y="3994533"/>
            <a:ext cx="46399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dirty="0">
                <a:solidFill>
                  <a:srgbClr val="2C5F8A"/>
                </a:solidFill>
              </a:rPr>
              <a:t>Inference Latency Profile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dirty="0">
                <a:solidFill>
                  <a:srgbClr val="333333"/>
                </a:solidFill>
              </a:rPr>
              <a:t>Pre-processing (CPU):   101.8 </a:t>
            </a:r>
            <a:r>
              <a:rPr dirty="0" err="1">
                <a:solidFill>
                  <a:srgbClr val="333333"/>
                </a:solidFill>
              </a:rPr>
              <a:t>ms</a:t>
            </a:r>
            <a:endParaRPr dirty="0">
              <a:solidFill>
                <a:srgbClr val="333333"/>
              </a:solidFill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dirty="0">
                <a:solidFill>
                  <a:srgbClr val="333333"/>
                </a:solidFill>
              </a:rPr>
              <a:t>DPU Execution:              543.4 </a:t>
            </a:r>
            <a:r>
              <a:rPr dirty="0" err="1">
                <a:solidFill>
                  <a:srgbClr val="333333"/>
                </a:solidFill>
              </a:rPr>
              <a:t>ms</a:t>
            </a:r>
            <a:endParaRPr dirty="0">
              <a:solidFill>
                <a:srgbClr val="333333"/>
              </a:solidFill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dirty="0">
                <a:solidFill>
                  <a:srgbClr val="333333"/>
                </a:solidFill>
              </a:rPr>
              <a:t>Post-processing (CPU):  475.2 </a:t>
            </a:r>
            <a:r>
              <a:rPr dirty="0" err="1">
                <a:solidFill>
                  <a:srgbClr val="333333"/>
                </a:solidFill>
              </a:rPr>
              <a:t>ms</a:t>
            </a:r>
            <a:endParaRPr dirty="0">
              <a:solidFill>
                <a:srgbClr val="333333"/>
              </a:solidFill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dirty="0">
                <a:solidFill>
                  <a:srgbClr val="333333"/>
                </a:solidFill>
              </a:rPr>
              <a:t>Total:                              1120.4 </a:t>
            </a:r>
            <a:r>
              <a:rPr dirty="0" err="1">
                <a:solidFill>
                  <a:srgbClr val="333333"/>
                </a:solidFill>
              </a:rPr>
              <a:t>ms</a:t>
            </a:r>
            <a:r>
              <a:rPr dirty="0">
                <a:solidFill>
                  <a:srgbClr val="333333"/>
                </a:solidFill>
              </a:rPr>
              <a:t> (~0.89 FPS)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11914" y="6510528"/>
            <a:ext cx="5581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FFFFFF"/>
                </a:solidFill>
              </a:rPr>
              <a:t>1</a:t>
            </a:r>
            <a:r>
              <a:rPr lang="en-IN" sz="1200" dirty="0">
                <a:solidFill>
                  <a:srgbClr val="FFFFFF"/>
                </a:solidFill>
              </a:rPr>
              <a:t>0</a:t>
            </a:r>
            <a:r>
              <a:rPr sz="1200" dirty="0">
                <a:solidFill>
                  <a:srgbClr val="FFFFFF"/>
                </a:solidFill>
              </a:rPr>
              <a:t>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62F702-06F0-3665-08B9-E5013C82A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542702"/>
            <a:ext cx="5112249" cy="16527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F4A31E-600E-CB1A-30F4-67C4D8F4A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37" y="3586005"/>
            <a:ext cx="4896548" cy="24482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DD9603-3D26-0A0D-3714-EC54EEBF1E4D}"/>
              </a:ext>
            </a:extLst>
          </p:cNvPr>
          <p:cNvSpPr txBox="1"/>
          <p:nvPr/>
        </p:nvSpPr>
        <p:spPr>
          <a:xfrm>
            <a:off x="6618093" y="3459287"/>
            <a:ext cx="4390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C5F8A"/>
                </a:solidFill>
              </a:rPr>
              <a:t>Board’s detections which are saved as .txt file</a:t>
            </a:r>
            <a:endParaRPr lang="en-US" sz="1800" dirty="0">
              <a:solidFill>
                <a:srgbClr val="333333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89A6A6-D38C-9D0C-1387-B4FDE1DBE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485" y="1336281"/>
            <a:ext cx="6742595" cy="2039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6FE6-363F-E410-0165-7DD4EC7B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3542A-C765-D5DC-9132-B7DA61345259}"/>
              </a:ext>
            </a:extLst>
          </p:cNvPr>
          <p:cNvSpPr txBox="1"/>
          <p:nvPr/>
        </p:nvSpPr>
        <p:spPr>
          <a:xfrm>
            <a:off x="640080" y="41148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1B3A5C"/>
                </a:solidFill>
              </a:rPr>
              <a:t>Future Work</a:t>
            </a:r>
            <a:endParaRPr sz="3200" b="1" dirty="0">
              <a:solidFill>
                <a:srgbClr val="1B3A5C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8EB99-808E-F128-2B16-5A255E121F25}"/>
              </a:ext>
            </a:extLst>
          </p:cNvPr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43EFE-F1D4-EAED-2C7A-F66E31D8B7BB}"/>
              </a:ext>
            </a:extLst>
          </p:cNvPr>
          <p:cNvSpPr txBox="1"/>
          <p:nvPr/>
        </p:nvSpPr>
        <p:spPr>
          <a:xfrm>
            <a:off x="640080" y="1434320"/>
            <a:ext cx="1078992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Custom Accelerator for Complex-YOLOv4</a:t>
            </a:r>
            <a:endParaRPr lang="en-I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Design a dedicated Darknet inference engine optimized for its specific layer sequence, residual connections, and route/concatenation patterns.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Custom Accelerators for SECOND</a:t>
            </a:r>
            <a:endParaRPr lang="en-I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Dense Ops:</a:t>
            </a:r>
            <a:r>
              <a:rPr lang="en-IN" dirty="0"/>
              <a:t> Develop a Vitis HLS-based Conv2D engine (INT16) for dense operations and fused </a:t>
            </a:r>
            <a:r>
              <a:rPr lang="en-IN" dirty="0" err="1"/>
              <a:t>BatchNorm</a:t>
            </a:r>
            <a:r>
              <a:rPr lang="en-IN" dirty="0"/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/>
              <a:t>Sparse Ops:</a:t>
            </a:r>
            <a:r>
              <a:rPr lang="en-IN" dirty="0"/>
              <a:t> Design a custom hardware engine for 3D sparse convolutions utilizing coordinate-based hash maps in on-chip memory to avoid CPU bottlenecks.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Quantization-Aware Training (QAT) &amp; Mixed Precision</a:t>
            </a:r>
            <a:endParaRPr lang="en-I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Retrain models using QAT (simulated INT8 rounding) to recover accuracy lost for distant objects during Post-Training Quantization (PTQ).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Explore mixed-precision inference (e.g., INT16 for first/last layers) to preserve small activation values.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48CDE-F1C4-F23F-5CD8-116ED8559B17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CE2AB-20D1-966A-56E6-E4936DF2AF11}"/>
              </a:ext>
            </a:extLst>
          </p:cNvPr>
          <p:cNvSpPr txBox="1"/>
          <p:nvPr/>
        </p:nvSpPr>
        <p:spPr>
          <a:xfrm>
            <a:off x="11511914" y="6510528"/>
            <a:ext cx="5581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1200" dirty="0">
                <a:solidFill>
                  <a:srgbClr val="FFFFFF"/>
                </a:solidFill>
              </a:rPr>
              <a:t>11</a:t>
            </a:r>
            <a:r>
              <a:rPr sz="1200" dirty="0">
                <a:solidFill>
                  <a:srgbClr val="FFFFFF"/>
                </a:solidFill>
              </a:rPr>
              <a:t>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44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1645920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48581"/>
            <a:ext cx="10789920" cy="394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[1]  Y. Zhou &amp; O. </a:t>
            </a:r>
            <a:r>
              <a:rPr dirty="0" err="1">
                <a:solidFill>
                  <a:srgbClr val="333333"/>
                </a:solidFill>
              </a:rPr>
              <a:t>Tuzel</a:t>
            </a:r>
            <a:r>
              <a:rPr dirty="0">
                <a:solidFill>
                  <a:srgbClr val="333333"/>
                </a:solidFill>
              </a:rPr>
              <a:t>, "</a:t>
            </a:r>
            <a:r>
              <a:rPr dirty="0" err="1">
                <a:solidFill>
                  <a:srgbClr val="333333"/>
                </a:solidFill>
              </a:rPr>
              <a:t>VoxelNet</a:t>
            </a:r>
            <a:r>
              <a:rPr dirty="0">
                <a:solidFill>
                  <a:srgbClr val="333333"/>
                </a:solidFill>
              </a:rPr>
              <a:t>: End-to-End Learning for Point Cloud Based 3D Object Detection," CVPR 2018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[2]  Y. Yan, Y. Mao &amp; B. Li, "SECOND: Sparsely Embedded Convolutional Detection," Sensors, 2018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[3]  M. Simon et al., "Complex-YOLO: An Euler-Region-Proposal for Real-Time 3D Object Detection," ECCVW 2018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[4]  A. Lang et al., "</a:t>
            </a:r>
            <a:r>
              <a:rPr dirty="0" err="1">
                <a:solidFill>
                  <a:srgbClr val="333333"/>
                </a:solidFill>
              </a:rPr>
              <a:t>PointPillars</a:t>
            </a:r>
            <a:r>
              <a:rPr dirty="0">
                <a:solidFill>
                  <a:srgbClr val="333333"/>
                </a:solidFill>
              </a:rPr>
              <a:t>: Fast Encoders for Object Detection from Point Clouds," CVPR 2019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[5]  A. </a:t>
            </a:r>
            <a:r>
              <a:rPr dirty="0" err="1">
                <a:solidFill>
                  <a:srgbClr val="333333"/>
                </a:solidFill>
              </a:rPr>
              <a:t>Bochkovskiy</a:t>
            </a:r>
            <a:r>
              <a:rPr dirty="0">
                <a:solidFill>
                  <a:srgbClr val="333333"/>
                </a:solidFill>
              </a:rPr>
              <a:t>, C.-Y. Wang &amp; H.-Y. Liao, "YOLOv4: Optimal Speed and Accuracy of Object Detection," 2020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[6]  </a:t>
            </a:r>
            <a:r>
              <a:rPr dirty="0" err="1">
                <a:solidFill>
                  <a:srgbClr val="333333"/>
                </a:solidFill>
              </a:rPr>
              <a:t>OpenPCDet</a:t>
            </a:r>
            <a:r>
              <a:rPr dirty="0">
                <a:solidFill>
                  <a:srgbClr val="333333"/>
                </a:solidFill>
              </a:rPr>
              <a:t> Development Team, "</a:t>
            </a:r>
            <a:r>
              <a:rPr dirty="0" err="1">
                <a:solidFill>
                  <a:srgbClr val="333333"/>
                </a:solidFill>
              </a:rPr>
              <a:t>OpenPCDet</a:t>
            </a:r>
            <a:r>
              <a:rPr dirty="0">
                <a:solidFill>
                  <a:srgbClr val="333333"/>
                </a:solidFill>
              </a:rPr>
              <a:t>: Open-source Toolbox for 3D Object Detection," 2020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[7]  A. Geiger, P. Lenz &amp; R. Urtasun, "Are We Ready for Autonomous Driving? The KITTI Vision Benchmark Suite," 2012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[8]  AMD/Xilinx, Vitis AI User Guide (UG1414), v3.5, 2023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[9]  AMD/Xilinx, DPUCZDX8G for Zynq </a:t>
            </a:r>
            <a:r>
              <a:rPr dirty="0" err="1">
                <a:solidFill>
                  <a:srgbClr val="333333"/>
                </a:solidFill>
              </a:rPr>
              <a:t>UltraScale</a:t>
            </a:r>
            <a:r>
              <a:rPr dirty="0">
                <a:solidFill>
                  <a:srgbClr val="333333"/>
                </a:solidFill>
              </a:rPr>
              <a:t>+ </a:t>
            </a:r>
            <a:r>
              <a:rPr dirty="0" err="1">
                <a:solidFill>
                  <a:srgbClr val="333333"/>
                </a:solidFill>
              </a:rPr>
              <a:t>MPSoCs</a:t>
            </a:r>
            <a:r>
              <a:rPr dirty="0">
                <a:solidFill>
                  <a:srgbClr val="333333"/>
                </a:solidFill>
              </a:rPr>
              <a:t> Product Guide (PG338), 2023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dirty="0">
                <a:solidFill>
                  <a:srgbClr val="333333"/>
                </a:solidFill>
              </a:rPr>
              <a:t>[10] M. Nagel et al., "A White Paper on Neural Network Quantization," arXiv:2106.08295, 2021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9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11914" y="6510528"/>
            <a:ext cx="5581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N" sz="1200" dirty="0">
                <a:solidFill>
                  <a:srgbClr val="FFFFFF"/>
                </a:solidFill>
              </a:rPr>
              <a:t>12</a:t>
            </a:r>
            <a:r>
              <a:rPr sz="1200" dirty="0">
                <a:solidFill>
                  <a:srgbClr val="FFFFFF"/>
                </a:solidFill>
              </a:rPr>
              <a:t>/1</a:t>
            </a:r>
            <a:r>
              <a:rPr lang="en-IN" sz="1200" dirty="0">
                <a:solidFill>
                  <a:srgbClr val="FFFFFF"/>
                </a:solidFill>
              </a:rPr>
              <a:t>3</a:t>
            </a:r>
            <a:endParaRPr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CEA6-E7A4-B87F-3909-8022DAE6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2A7EF3-8C2B-F441-437A-728AC3BDB6BF}"/>
              </a:ext>
            </a:extLst>
          </p:cNvPr>
          <p:cNvSpPr/>
          <p:nvPr/>
        </p:nvSpPr>
        <p:spPr>
          <a:xfrm>
            <a:off x="305" y="27432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0E9D3-B2CB-02DC-3546-2B3839A3C14B}"/>
              </a:ext>
            </a:extLst>
          </p:cNvPr>
          <p:cNvSpPr/>
          <p:nvPr/>
        </p:nvSpPr>
        <p:spPr>
          <a:xfrm>
            <a:off x="305" y="3462322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0B758-98BF-8ECC-7DE1-60941200CE5C}"/>
              </a:ext>
            </a:extLst>
          </p:cNvPr>
          <p:cNvSpPr txBox="1"/>
          <p:nvPr/>
        </p:nvSpPr>
        <p:spPr>
          <a:xfrm>
            <a:off x="929640" y="2558657"/>
            <a:ext cx="10332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dirty="0">
                <a:solidFill>
                  <a:srgbClr val="E8A838"/>
                </a:solidFill>
                <a:latin typeface="Algerian" panose="04020705040A02060702" pitchFamily="82" charset="0"/>
              </a:rPr>
              <a:t>THANK </a:t>
            </a:r>
          </a:p>
          <a:p>
            <a:pPr algn="ctr"/>
            <a:r>
              <a:rPr lang="en-IN" sz="6000" dirty="0">
                <a:solidFill>
                  <a:srgbClr val="E8A838"/>
                </a:solidFill>
                <a:latin typeface="Algerian" panose="04020705040A02060702" pitchFamily="82" charset="0"/>
              </a:rPr>
              <a:t>YOU</a:t>
            </a:r>
            <a:endParaRPr sz="6000" dirty="0">
              <a:solidFill>
                <a:srgbClr val="E8A838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DE9EB-7E4C-1B44-AC1F-87D26A8909D9}"/>
              </a:ext>
            </a:extLst>
          </p:cNvPr>
          <p:cNvSpPr txBox="1"/>
          <p:nvPr/>
        </p:nvSpPr>
        <p:spPr>
          <a:xfrm>
            <a:off x="11155680" y="651052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136751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1484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TEJESH TATIKONDA</cp:lastModifiedBy>
  <cp:revision>3</cp:revision>
  <dcterms:created xsi:type="dcterms:W3CDTF">2013-01-27T09:14:16Z</dcterms:created>
  <dcterms:modified xsi:type="dcterms:W3CDTF">2026-08-20T07:50:28Z</dcterms:modified>
  <cp:category/>
</cp:coreProperties>
</file>